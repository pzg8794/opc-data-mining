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FFFF66"/>
    <a:srgbClr val="E5EAFF"/>
    <a:srgbClr val="FFCF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7774" autoAdjust="0"/>
  </p:normalViewPr>
  <p:slideViewPr>
    <p:cSldViewPr snapToObjects="1">
      <p:cViewPr>
        <p:scale>
          <a:sx n="112" d="100"/>
          <a:sy n="112" d="100"/>
        </p:scale>
        <p:origin x="-1544" y="-80"/>
      </p:cViewPr>
      <p:guideLst>
        <p:guide orient="horz" pos="2736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 snapToObjects="1">
      <p:cViewPr varScale="1">
        <p:scale>
          <a:sx n="74" d="100"/>
          <a:sy n="74" d="100"/>
        </p:scale>
        <p:origin x="-3200" y="-10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handoutMaster" Target="handoutMasters/handoutMaster1.xml"/><Relationship Id="rId14" Type="http://schemas.openxmlformats.org/officeDocument/2006/relationships/printerSettings" Target="printerSettings/printerSettings1.bin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07C127-F8D7-0D4C-A5FF-BDD9C34266BD}" type="datetimeFigureOut">
              <a:rPr lang="en-US" smtClean="0"/>
              <a:pPr/>
              <a:t>8/25/13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AA93B2-CF85-9E42-BB50-C1878310008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3595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4F9090-CD2C-FD45-BD8A-2FDF4997A42C}" type="datetimeFigureOut">
              <a:rPr lang="en-US" smtClean="0"/>
              <a:pPr/>
              <a:t>8/25/13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099918-6F05-2A42-BF8F-25D4C0EFDD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766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 baseline="0" dirty="0" smtClean="0"/>
          </a:p>
          <a:p>
            <a:r>
              <a:rPr lang="en-US" altLang="zh-CN" baseline="0" dirty="0" smtClean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099918-6F05-2A42-BF8F-25D4C0EFDDB8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dirty="0" smtClean="0"/>
              <a:t>CLDM/</a:t>
            </a:r>
            <a:r>
              <a:rPr lang="en-US" dirty="0"/>
              <a:t>Spring </a:t>
            </a:r>
            <a:r>
              <a:rPr lang="en-US" dirty="0" smtClean="0"/>
              <a:t>20073</a:t>
            </a:r>
          </a:p>
          <a:p>
            <a:endParaRPr lang="en-US" dirty="0">
              <a:latin typeface="Times New Roman" charset="0"/>
            </a:endParaRPr>
          </a:p>
        </p:txBody>
      </p:sp>
      <p:sp>
        <p:nvSpPr>
          <p:cNvPr id="7577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2C60D26-2AD7-9A4B-B9F3-E76848061E95}" type="slidenum">
              <a:rPr lang="en-US"/>
              <a:pPr/>
              <a:t>2</a:t>
            </a:fld>
            <a:endParaRPr lang="en-US"/>
          </a:p>
        </p:txBody>
      </p:sp>
      <p:sp>
        <p:nvSpPr>
          <p:cNvPr id="7578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0412" cy="3429000"/>
          </a:xfrm>
          <a:ln/>
        </p:spPr>
      </p:sp>
      <p:sp>
        <p:nvSpPr>
          <p:cNvPr id="7578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098" y="4342191"/>
            <a:ext cx="5487293" cy="4116917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dirty="0" smtClean="0"/>
              <a:t>CLDM/</a:t>
            </a:r>
            <a:r>
              <a:rPr lang="en-US" dirty="0"/>
              <a:t>Spring </a:t>
            </a:r>
            <a:r>
              <a:rPr lang="en-US" dirty="0" smtClean="0"/>
              <a:t>20073</a:t>
            </a:r>
          </a:p>
          <a:p>
            <a:endParaRPr lang="en-US" dirty="0">
              <a:latin typeface="Times New Roman" charset="0"/>
            </a:endParaRPr>
          </a:p>
        </p:txBody>
      </p:sp>
      <p:sp>
        <p:nvSpPr>
          <p:cNvPr id="7782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42E15A1-408E-5D40-9289-040483DEC581}" type="slidenum">
              <a:rPr lang="en-US"/>
              <a:pPr/>
              <a:t>3</a:t>
            </a:fld>
            <a:endParaRPr lang="en-US"/>
          </a:p>
        </p:txBody>
      </p:sp>
      <p:sp>
        <p:nvSpPr>
          <p:cNvPr id="778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0412" cy="3429000"/>
          </a:xfrm>
          <a:ln/>
        </p:spPr>
      </p:sp>
      <p:sp>
        <p:nvSpPr>
          <p:cNvPr id="7782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098" y="4342191"/>
            <a:ext cx="5487293" cy="4116917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dirty="0" smtClean="0"/>
              <a:t>CLDM/</a:t>
            </a:r>
            <a:r>
              <a:rPr lang="en-US" dirty="0"/>
              <a:t>Spring </a:t>
            </a:r>
            <a:r>
              <a:rPr lang="en-US" dirty="0" smtClean="0"/>
              <a:t>20073</a:t>
            </a:r>
          </a:p>
          <a:p>
            <a:endParaRPr lang="en-US" dirty="0">
              <a:latin typeface="Times New Roman" charset="0"/>
            </a:endParaRPr>
          </a:p>
        </p:txBody>
      </p:sp>
      <p:sp>
        <p:nvSpPr>
          <p:cNvPr id="7987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5F6504B-AB05-4242-96A3-43F8CA132753}" type="slidenum">
              <a:rPr lang="en-US"/>
              <a:pPr/>
              <a:t>4</a:t>
            </a:fld>
            <a:endParaRPr lang="en-US"/>
          </a:p>
        </p:txBody>
      </p:sp>
      <p:sp>
        <p:nvSpPr>
          <p:cNvPr id="7987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0412" cy="3429000"/>
          </a:xfrm>
          <a:ln/>
        </p:spPr>
      </p:sp>
      <p:sp>
        <p:nvSpPr>
          <p:cNvPr id="7987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098" y="4342191"/>
            <a:ext cx="5487293" cy="4116917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dirty="0" smtClean="0"/>
              <a:t>CLDM/</a:t>
            </a:r>
            <a:r>
              <a:rPr lang="en-US" dirty="0"/>
              <a:t>Spring </a:t>
            </a:r>
            <a:r>
              <a:rPr lang="en-US" dirty="0" smtClean="0"/>
              <a:t>20073</a:t>
            </a:r>
          </a:p>
          <a:p>
            <a:endParaRPr lang="en-US" dirty="0">
              <a:latin typeface="Times New Roman" charset="0"/>
            </a:endParaRPr>
          </a:p>
        </p:txBody>
      </p:sp>
      <p:sp>
        <p:nvSpPr>
          <p:cNvPr id="8192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13C4EF4-C628-DA47-9F3C-890CA0FFAC0B}" type="slidenum">
              <a:rPr lang="en-US"/>
              <a:pPr/>
              <a:t>5</a:t>
            </a:fld>
            <a:endParaRPr lang="en-US"/>
          </a:p>
        </p:txBody>
      </p:sp>
      <p:sp>
        <p:nvSpPr>
          <p:cNvPr id="8192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0412" cy="3429000"/>
          </a:xfrm>
          <a:ln/>
        </p:spPr>
      </p:sp>
      <p:sp>
        <p:nvSpPr>
          <p:cNvPr id="8192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098" y="4342191"/>
            <a:ext cx="5487293" cy="4116917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dirty="0" smtClean="0"/>
              <a:t>CLDM/</a:t>
            </a:r>
            <a:r>
              <a:rPr lang="en-US" dirty="0"/>
              <a:t>Spring </a:t>
            </a:r>
            <a:r>
              <a:rPr lang="en-US" dirty="0" smtClean="0"/>
              <a:t>20073</a:t>
            </a:r>
          </a:p>
          <a:p>
            <a:endParaRPr lang="en-US" dirty="0">
              <a:latin typeface="Times New Roman" charset="0"/>
            </a:endParaRPr>
          </a:p>
        </p:txBody>
      </p:sp>
      <p:sp>
        <p:nvSpPr>
          <p:cNvPr id="8397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AD09172-DEA9-154B-A3D8-26FAEC2DE13C}" type="slidenum">
              <a:rPr lang="en-US"/>
              <a:pPr/>
              <a:t>6</a:t>
            </a:fld>
            <a:endParaRPr lang="en-US"/>
          </a:p>
        </p:txBody>
      </p:sp>
      <p:sp>
        <p:nvSpPr>
          <p:cNvPr id="839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0412" cy="3429000"/>
          </a:xfrm>
          <a:ln/>
        </p:spPr>
      </p:sp>
      <p:sp>
        <p:nvSpPr>
          <p:cNvPr id="8397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098" y="4342191"/>
            <a:ext cx="5487293" cy="4116917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dirty="0" smtClean="0"/>
              <a:t>CLDM/</a:t>
            </a:r>
            <a:r>
              <a:rPr lang="en-US" dirty="0"/>
              <a:t>Spring </a:t>
            </a:r>
            <a:r>
              <a:rPr lang="en-US" dirty="0" smtClean="0"/>
              <a:t>20073</a:t>
            </a:r>
          </a:p>
          <a:p>
            <a:endParaRPr lang="en-US" dirty="0">
              <a:latin typeface="Times New Roman" charset="0"/>
            </a:endParaRPr>
          </a:p>
        </p:txBody>
      </p:sp>
      <p:sp>
        <p:nvSpPr>
          <p:cNvPr id="8601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71C8D5C-E545-2B49-A241-2B1043590D7A}" type="slidenum">
              <a:rPr lang="en-US"/>
              <a:pPr/>
              <a:t>7</a:t>
            </a:fld>
            <a:endParaRPr lang="en-US"/>
          </a:p>
        </p:txBody>
      </p:sp>
      <p:sp>
        <p:nvSpPr>
          <p:cNvPr id="8602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0412" cy="3429000"/>
          </a:xfrm>
          <a:ln/>
        </p:spPr>
      </p:sp>
      <p:sp>
        <p:nvSpPr>
          <p:cNvPr id="8602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098" y="4342191"/>
            <a:ext cx="5487293" cy="4116917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dirty="0" smtClean="0"/>
              <a:t>CLDM/</a:t>
            </a:r>
            <a:r>
              <a:rPr lang="en-US" dirty="0"/>
              <a:t>Spring </a:t>
            </a:r>
            <a:r>
              <a:rPr lang="en-US" dirty="0" smtClean="0"/>
              <a:t>20073</a:t>
            </a:r>
          </a:p>
          <a:p>
            <a:endParaRPr lang="en-US" dirty="0">
              <a:latin typeface="Times New Roman" charset="0"/>
            </a:endParaRPr>
          </a:p>
        </p:txBody>
      </p:sp>
      <p:sp>
        <p:nvSpPr>
          <p:cNvPr id="8806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D93ADF5-B97F-CE46-8E2C-C4ABD270B7FF}" type="slidenum">
              <a:rPr lang="en-US"/>
              <a:pPr/>
              <a:t>8</a:t>
            </a:fld>
            <a:endParaRPr lang="en-US"/>
          </a:p>
        </p:txBody>
      </p:sp>
      <p:sp>
        <p:nvSpPr>
          <p:cNvPr id="880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0412" cy="3429000"/>
          </a:xfrm>
          <a:ln/>
        </p:spPr>
      </p:sp>
      <p:sp>
        <p:nvSpPr>
          <p:cNvPr id="8806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098" y="4342191"/>
            <a:ext cx="5487293" cy="4116917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dirty="0" smtClean="0"/>
              <a:t>CLDM/</a:t>
            </a:r>
            <a:r>
              <a:rPr lang="en-US" dirty="0"/>
              <a:t>Spring </a:t>
            </a:r>
            <a:r>
              <a:rPr lang="en-US" dirty="0" smtClean="0"/>
              <a:t>20073</a:t>
            </a:r>
          </a:p>
          <a:p>
            <a:endParaRPr lang="en-US" dirty="0">
              <a:latin typeface="Times New Roman" charset="0"/>
            </a:endParaRPr>
          </a:p>
        </p:txBody>
      </p:sp>
      <p:sp>
        <p:nvSpPr>
          <p:cNvPr id="9011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ADC6B03-3D37-F549-99C4-FC04729BFE53}" type="slidenum">
              <a:rPr lang="en-US"/>
              <a:pPr/>
              <a:t>9</a:t>
            </a:fld>
            <a:endParaRPr lang="en-US"/>
          </a:p>
        </p:txBody>
      </p:sp>
      <p:sp>
        <p:nvSpPr>
          <p:cNvPr id="9011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0412" cy="3429000"/>
          </a:xfrm>
          <a:ln/>
        </p:spPr>
      </p:sp>
      <p:sp>
        <p:nvSpPr>
          <p:cNvPr id="9011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098" y="4342191"/>
            <a:ext cx="5487293" cy="4116917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dirty="0" smtClean="0"/>
              <a:t>CLDM/</a:t>
            </a:r>
            <a:r>
              <a:rPr lang="en-US" dirty="0"/>
              <a:t>Spring </a:t>
            </a:r>
            <a:r>
              <a:rPr lang="en-US" dirty="0" smtClean="0"/>
              <a:t>20073</a:t>
            </a:r>
          </a:p>
          <a:p>
            <a:endParaRPr lang="en-US" dirty="0">
              <a:latin typeface="Times New Roman" charset="0"/>
            </a:endParaRPr>
          </a:p>
        </p:txBody>
      </p:sp>
      <p:sp>
        <p:nvSpPr>
          <p:cNvPr id="9216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9EEDBA8-9153-EC46-BDEE-541292779544}" type="slidenum">
              <a:rPr lang="en-US"/>
              <a:pPr/>
              <a:t>10</a:t>
            </a:fld>
            <a:endParaRPr lang="en-US"/>
          </a:p>
        </p:txBody>
      </p:sp>
      <p:sp>
        <p:nvSpPr>
          <p:cNvPr id="9216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0412" cy="3429000"/>
          </a:xfrm>
          <a:ln/>
        </p:spPr>
      </p:sp>
      <p:sp>
        <p:nvSpPr>
          <p:cNvPr id="9216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098" y="4342191"/>
            <a:ext cx="5487293" cy="4116917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solidFill>
            <a:srgbClr val="FFFFFF"/>
          </a:solidFill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pPr/>
              <a:t>8/25/13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 sz="1400" dirty="0">
              <a:solidFill>
                <a:srgbClr val="FFFFFF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pPr/>
              <a:t>8/25/13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pPr/>
              <a:t>8/25/13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pPr/>
              <a:t>8/25/13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pPr/>
              <a:t>8/25/13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pPr/>
              <a:t>8/25/13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pPr/>
              <a:t>8/25/13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pPr/>
              <a:t>8/25/13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pPr/>
              <a:t>8/25/13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pPr/>
              <a:t>8/25/13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pPr/>
              <a:t>8/25/13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noFill/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noFill/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dirty="0" smtClean="0"/>
              <a:t>Click to edit Master text styles</a:t>
            </a:r>
          </a:p>
          <a:p>
            <a:pPr lvl="1" eaLnBrk="1" latinLnBrk="0" hangingPunct="1"/>
            <a:r>
              <a:rPr kumimoji="0" lang="en-US" dirty="0" smtClean="0"/>
              <a:t>Second level</a:t>
            </a:r>
          </a:p>
          <a:p>
            <a:pPr lvl="2" eaLnBrk="1" latinLnBrk="0" hangingPunct="1"/>
            <a:r>
              <a:rPr kumimoji="0" lang="en-US" dirty="0" smtClean="0"/>
              <a:t>Third level</a:t>
            </a:r>
          </a:p>
          <a:p>
            <a:pPr lvl="3" eaLnBrk="1" latinLnBrk="0" hangingPunct="1"/>
            <a:r>
              <a:rPr kumimoji="0" lang="en-US" dirty="0" smtClean="0"/>
              <a:t>Fourth level</a:t>
            </a:r>
          </a:p>
          <a:p>
            <a:pPr lvl="4" eaLnBrk="1" latinLnBrk="0" hangingPunct="1"/>
            <a:r>
              <a:rPr kumimoji="0" lang="en-US" dirty="0" smtClean="0"/>
              <a:t>Fifth level</a:t>
            </a:r>
            <a:endParaRPr kumimoji="0" lang="en-US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fld id="{564CF2E0-CCC4-4E1E-9902-C3C36AB3FDA4}" type="datetimeFigureOut">
              <a:rPr lang="en-US" smtClean="0"/>
              <a:pPr algn="r" eaLnBrk="1" latinLnBrk="0" hangingPunct="1"/>
              <a:t>8/25/13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eaLnBrk="1" latinLnBrk="0" hangingPunct="1"/>
            <a:fld id="{6F42FDE4-A7DD-41A7-A0A6-9B649FB43336}" type="slidenum">
              <a:rPr kumimoji="0" lang="en-US" smtClean="0"/>
              <a:pPr algn="ctr" eaLnBrk="1" latinLnBrk="0" hangingPunct="1"/>
              <a:t>‹#›</a:t>
            </a:fld>
            <a:endParaRPr kumimoji="0" lang="en-US" sz="14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rgbClr val="FF0000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Reading </a:t>
            </a:r>
            <a:r>
              <a:rPr lang="en-US" dirty="0" smtClean="0"/>
              <a:t>Papers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Introduction to Big Data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Reading Papers</a:t>
            </a:r>
            <a:endParaRPr lang="en-GB"/>
          </a:p>
        </p:txBody>
      </p:sp>
      <p:sp>
        <p:nvSpPr>
          <p:cNvPr id="747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How to </a:t>
            </a:r>
            <a:r>
              <a:rPr lang="en-US" dirty="0" smtClean="0"/>
              <a:t>read </a:t>
            </a:r>
            <a:r>
              <a:rPr lang="en-US" dirty="0"/>
              <a:t>an </a:t>
            </a:r>
            <a:r>
              <a:rPr lang="en-US" dirty="0" smtClean="0"/>
              <a:t>engineering research paper by Bill </a:t>
            </a:r>
            <a:r>
              <a:rPr lang="en-US" dirty="0"/>
              <a:t>Griswold and Gail </a:t>
            </a:r>
            <a:r>
              <a:rPr lang="en-US" dirty="0" smtClean="0"/>
              <a:t>Murphy</a:t>
            </a:r>
          </a:p>
          <a:p>
            <a:pPr lvl="1" eaLnBrk="1" hangingPunct="1"/>
            <a:r>
              <a:rPr lang="en-US" dirty="0"/>
              <a:t>Just search on the web for the sources for this </a:t>
            </a:r>
            <a:r>
              <a:rPr lang="en-US" dirty="0" smtClean="0"/>
              <a:t>paper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70951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Research Papers</a:t>
            </a:r>
            <a:endParaRPr lang="en-US"/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Style</a:t>
            </a:r>
          </a:p>
          <a:p>
            <a:pPr lvl="1"/>
            <a:r>
              <a:rPr lang="en-US" dirty="0" smtClean="0"/>
              <a:t>Terse style due to page limits</a:t>
            </a:r>
          </a:p>
          <a:p>
            <a:pPr lvl="1"/>
            <a:r>
              <a:rPr lang="en-US" dirty="0" smtClean="0"/>
              <a:t>Typical target audience: researchers in field</a:t>
            </a:r>
          </a:p>
          <a:p>
            <a:pPr lvl="1"/>
            <a:r>
              <a:rPr lang="en-US" dirty="0" smtClean="0"/>
              <a:t>Intended audience is rarely you! </a:t>
            </a:r>
            <a:r>
              <a:rPr lang="en-US" dirty="0" smtClean="0">
                <a:sym typeface="Wingdings" charset="2"/>
              </a:rPr>
              <a:t></a:t>
            </a:r>
            <a:endParaRPr lang="en-US" dirty="0" smtClean="0"/>
          </a:p>
          <a:p>
            <a:r>
              <a:rPr lang="en-US" dirty="0" smtClean="0"/>
              <a:t>Reading as a budding researcher</a:t>
            </a:r>
          </a:p>
          <a:p>
            <a:pPr lvl="1"/>
            <a:r>
              <a:rPr lang="en-US" dirty="0" smtClean="0"/>
              <a:t>May need to read additional papers such as cited papers, tutorial papers, and textbooks</a:t>
            </a:r>
          </a:p>
          <a:p>
            <a:pPr lvl="1"/>
            <a:r>
              <a:rPr lang="en-US" dirty="0" smtClean="0"/>
              <a:t>Become an “active” reader</a:t>
            </a:r>
          </a:p>
          <a:p>
            <a:pPr lvl="1"/>
            <a:r>
              <a:rPr lang="en-US" dirty="0" smtClean="0"/>
              <a:t>Become a skeptical reader</a:t>
            </a:r>
          </a:p>
          <a:p>
            <a:pPr lvl="1"/>
            <a:r>
              <a:rPr lang="en-US" dirty="0" smtClean="0"/>
              <a:t>Read multiple times with different foci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9348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Research Paper Types (1)</a:t>
            </a:r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/>
              <a:t>Tutorial papers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Pages usually not limited or limit is high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Peer-reviewed over extended time (quality!)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Most often dated but useful for newbies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ACM Computing Surveys, conferences</a:t>
            </a:r>
          </a:p>
          <a:p>
            <a:pPr eaLnBrk="1" hangingPunct="1">
              <a:lnSpc>
                <a:spcPct val="90000"/>
              </a:lnSpc>
            </a:pPr>
            <a:r>
              <a:rPr lang="en-US"/>
              <a:t>Journal papers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Pages usually not limited or limit is high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Peer-reviewed over extended time (quality?)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Often dated but serve as archival record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TODS, VLDB Journal, Data Engineering Bulletin</a:t>
            </a:r>
          </a:p>
        </p:txBody>
      </p:sp>
    </p:spTree>
    <p:extLst>
      <p:ext uri="{BB962C8B-B14F-4D97-AF65-F5344CB8AC3E}">
        <p14:creationId xmlns:p14="http://schemas.microsoft.com/office/powerpoint/2010/main" val="31277315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Research Paper Types (2)</a:t>
            </a:r>
            <a:endParaRPr lang="en-US"/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Conference papers</a:t>
            </a:r>
          </a:p>
          <a:p>
            <a:pPr lvl="1"/>
            <a:r>
              <a:rPr lang="en-US" smtClean="0"/>
              <a:t>Strict page limits</a:t>
            </a:r>
          </a:p>
          <a:p>
            <a:pPr lvl="1"/>
            <a:r>
              <a:rPr lang="en-US" smtClean="0"/>
              <a:t>Usually peer-reviewed over short time period</a:t>
            </a:r>
          </a:p>
          <a:p>
            <a:pPr lvl="1"/>
            <a:r>
              <a:rPr lang="en-US" smtClean="0"/>
              <a:t>Reasonably current and correct</a:t>
            </a:r>
          </a:p>
          <a:p>
            <a:pPr lvl="1"/>
            <a:r>
              <a:rPr lang="en-US" smtClean="0"/>
              <a:t>SIGMOD/PODS, VLDB, ICDE, CIDR</a:t>
            </a:r>
          </a:p>
          <a:p>
            <a:r>
              <a:rPr lang="en-US" smtClean="0"/>
              <a:t>Workshop papers</a:t>
            </a:r>
          </a:p>
          <a:p>
            <a:pPr lvl="1"/>
            <a:r>
              <a:rPr lang="en-US" smtClean="0"/>
              <a:t>Often have lower page limits </a:t>
            </a:r>
          </a:p>
          <a:p>
            <a:pPr lvl="1"/>
            <a:r>
              <a:rPr lang="en-US" smtClean="0"/>
              <a:t>Often peer-reviewed but less quality control</a:t>
            </a:r>
          </a:p>
          <a:p>
            <a:pPr lvl="1"/>
            <a:r>
              <a:rPr lang="en-US" smtClean="0"/>
              <a:t>Provide access to preliminary work</a:t>
            </a:r>
          </a:p>
          <a:p>
            <a:pPr lvl="1"/>
            <a:r>
              <a:rPr lang="en-US" smtClean="0"/>
              <a:t>Middleware, DOA, workshops in conferences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94751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Research Paper Types (3)</a:t>
            </a:r>
          </a:p>
        </p:txBody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Technical reports</a:t>
            </a:r>
          </a:p>
          <a:p>
            <a:pPr lvl="1" eaLnBrk="1" hangingPunct="1"/>
            <a:r>
              <a:rPr lang="en-US"/>
              <a:t>No page limits</a:t>
            </a:r>
          </a:p>
          <a:p>
            <a:pPr lvl="1" eaLnBrk="1" hangingPunct="1"/>
            <a:r>
              <a:rPr lang="en-US"/>
              <a:t>Internal (department) publications</a:t>
            </a:r>
          </a:p>
          <a:p>
            <a:pPr lvl="1" eaLnBrk="1" hangingPunct="1"/>
            <a:r>
              <a:rPr lang="en-US"/>
              <a:t>Rarely peer-reviewed so may have “bugs”</a:t>
            </a:r>
          </a:p>
          <a:p>
            <a:pPr lvl="1" eaLnBrk="1" hangingPunct="1"/>
            <a:r>
              <a:rPr lang="en-US"/>
              <a:t>Best source of details</a:t>
            </a:r>
          </a:p>
        </p:txBody>
      </p:sp>
    </p:spTree>
    <p:extLst>
      <p:ext uri="{BB962C8B-B14F-4D97-AF65-F5344CB8AC3E}">
        <p14:creationId xmlns:p14="http://schemas.microsoft.com/office/powerpoint/2010/main" val="331444970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Industry Papers</a:t>
            </a:r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White papers, manuals, tutorials and similar documents</a:t>
            </a:r>
          </a:p>
          <a:p>
            <a:pPr eaLnBrk="1" hangingPunct="1"/>
            <a:r>
              <a:rPr lang="en-US" dirty="0"/>
              <a:t>Webcasts/podcasts</a:t>
            </a:r>
            <a:endParaRPr lang="en-US" dirty="0" smtClean="0"/>
          </a:p>
          <a:p>
            <a:pPr lvl="1" eaLnBrk="1" hangingPunct="1"/>
            <a:r>
              <a:rPr lang="en-US" dirty="0" smtClean="0"/>
              <a:t>See videos on the course page</a:t>
            </a:r>
          </a:p>
          <a:p>
            <a:pPr eaLnBrk="1" hangingPunct="1"/>
            <a:r>
              <a:rPr lang="en-US" dirty="0" smtClean="0"/>
              <a:t>Suggestion</a:t>
            </a:r>
            <a:endParaRPr lang="en-US" dirty="0"/>
          </a:p>
          <a:p>
            <a:pPr lvl="1" eaLnBrk="1" hangingPunct="1"/>
            <a:r>
              <a:rPr lang="en-US" dirty="0"/>
              <a:t>Look for products that claim to work in</a:t>
            </a:r>
            <a:r>
              <a:rPr lang="en-US" dirty="0" smtClean="0"/>
              <a:t> the area of the research</a:t>
            </a:r>
          </a:p>
        </p:txBody>
      </p:sp>
      <p:sp>
        <p:nvSpPr>
          <p:cNvPr id="84996" name="Rectangle 4"/>
          <p:cNvSpPr>
            <a:spLocks noChangeArrowheads="1"/>
          </p:cNvSpPr>
          <p:nvPr/>
        </p:nvSpPr>
        <p:spPr bwMode="auto">
          <a:xfrm>
            <a:off x="1281113" y="5943600"/>
            <a:ext cx="6580187" cy="53181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spcBef>
                <a:spcPct val="20000"/>
              </a:spcBef>
              <a:buClr>
                <a:schemeClr val="tx2"/>
              </a:buClr>
              <a:buSzPct val="65000"/>
              <a:buFont typeface="Wingdings" charset="2"/>
              <a:buNone/>
            </a:pPr>
            <a:r>
              <a:rPr lang="en-US" sz="2800" dirty="0">
                <a:solidFill>
                  <a:srgbClr val="000000"/>
                </a:solidFill>
                <a:latin typeface="Tahoma" charset="0"/>
              </a:rPr>
              <a:t>Again be skeptical, very very skeptical </a:t>
            </a:r>
            <a:r>
              <a:rPr lang="en-US" sz="2800" dirty="0" err="1">
                <a:solidFill>
                  <a:srgbClr val="000000"/>
                </a:solidFill>
                <a:latin typeface="Tahoma" charset="0"/>
                <a:sym typeface="Wingdings" charset="2"/>
              </a:rPr>
              <a:t></a:t>
            </a:r>
            <a:endParaRPr lang="en-US" sz="2800" dirty="0">
              <a:solidFill>
                <a:srgbClr val="000000"/>
              </a:solidFill>
              <a:latin typeface="Tahoma" charset="0"/>
              <a:sym typeface="Wingdings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84759873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Questions To Ask While Reading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What are or is …</a:t>
            </a:r>
          </a:p>
          <a:p>
            <a:pPr lvl="1" eaLnBrk="1" hangingPunct="1"/>
            <a:r>
              <a:rPr lang="en-US" dirty="0"/>
              <a:t>The motivations for this work?</a:t>
            </a:r>
          </a:p>
          <a:p>
            <a:pPr lvl="1" eaLnBrk="1" hangingPunct="1"/>
            <a:r>
              <a:rPr lang="en-US" dirty="0"/>
              <a:t>The proposed solution?</a:t>
            </a:r>
          </a:p>
          <a:p>
            <a:pPr lvl="1" eaLnBrk="1" hangingPunct="1"/>
            <a:r>
              <a:rPr lang="en-US" dirty="0"/>
              <a:t>The evaluation for the solution?</a:t>
            </a:r>
          </a:p>
          <a:p>
            <a:pPr lvl="1" eaLnBrk="1" hangingPunct="1"/>
            <a:r>
              <a:rPr lang="en-US" dirty="0"/>
              <a:t>The existing alternatives?</a:t>
            </a:r>
          </a:p>
          <a:p>
            <a:pPr lvl="1" eaLnBrk="1" hangingPunct="1"/>
            <a:r>
              <a:rPr lang="en-US" dirty="0"/>
              <a:t>The paper’s contributions (if any)?</a:t>
            </a:r>
          </a:p>
          <a:p>
            <a:pPr lvl="1" eaLnBrk="1" hangingPunct="1"/>
            <a:r>
              <a:rPr lang="en-US" dirty="0"/>
              <a:t>The anticipated future work?</a:t>
            </a:r>
          </a:p>
          <a:p>
            <a:pPr eaLnBrk="1" hangingPunct="1"/>
            <a:endParaRPr lang="en-US" dirty="0"/>
          </a:p>
        </p:txBody>
      </p:sp>
      <p:pic>
        <p:nvPicPr>
          <p:cNvPr id="6" name="Picture 5" descr="ShowMeState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4447" y="5334000"/>
            <a:ext cx="4685553" cy="1244600"/>
          </a:xfrm>
          <a:prstGeom prst="rect">
            <a:avLst/>
          </a:prstGeom>
        </p:spPr>
      </p:pic>
      <p:pic>
        <p:nvPicPr>
          <p:cNvPr id="3" name="Picture 2" descr="MissouriPlateBD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5138971"/>
            <a:ext cx="2590800" cy="1325328"/>
          </a:xfrm>
          <a:prstGeom prst="rect">
            <a:avLst/>
          </a:prstGeom>
        </p:spPr>
      </p:pic>
      <p:sp>
        <p:nvSpPr>
          <p:cNvPr id="12" name="Right Arrow 11"/>
          <p:cNvSpPr/>
          <p:nvPr/>
        </p:nvSpPr>
        <p:spPr>
          <a:xfrm rot="904917">
            <a:off x="2044713" y="5531012"/>
            <a:ext cx="2124331" cy="183697"/>
          </a:xfrm>
          <a:prstGeom prst="rightArrow">
            <a:avLst/>
          </a:prstGeom>
          <a:solidFill>
            <a:srgbClr val="FF9933"/>
          </a:solidFill>
          <a:ln/>
          <a:scene3d>
            <a:camera prst="orthographicFront"/>
            <a:lightRig rig="threePt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86483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Multiple Readings: Initial Pass</a:t>
            </a:r>
            <a:endParaRPr lang="en-US"/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Try to understand …</a:t>
            </a:r>
          </a:p>
          <a:p>
            <a:pPr lvl="1"/>
            <a:r>
              <a:rPr lang="en-US" smtClean="0"/>
              <a:t>Motivation and contributions</a:t>
            </a:r>
          </a:p>
          <a:p>
            <a:r>
              <a:rPr lang="en-US" smtClean="0"/>
              <a:t>Focus on high-level understanding of …</a:t>
            </a:r>
          </a:p>
          <a:p>
            <a:pPr lvl="1"/>
            <a:r>
              <a:rPr lang="en-US" smtClean="0"/>
              <a:t>Solution and evaluation criteria</a:t>
            </a:r>
          </a:p>
          <a:p>
            <a:r>
              <a:rPr lang="en-US" smtClean="0"/>
              <a:t>Definitely cover the following …</a:t>
            </a:r>
          </a:p>
          <a:p>
            <a:pPr lvl="1"/>
            <a:r>
              <a:rPr lang="en-US" smtClean="0"/>
              <a:t>Abstract, introduction, related work, and conclusions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059759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3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/>
              <a:t>Subsequent Passes (Note the Plural!)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Solution</a:t>
            </a:r>
            <a:endParaRPr lang="en-US" dirty="0"/>
          </a:p>
        </p:txBody>
      </p:sp>
      <p:sp>
        <p:nvSpPr>
          <p:cNvPr id="91139" name="Rectangle 6"/>
          <p:cNvSpPr>
            <a:spLocks noGrp="1" noChangeArrowheads="1"/>
          </p:cNvSpPr>
          <p:nvPr>
            <p:ph sz="half" idx="2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If </a:t>
            </a:r>
            <a:r>
              <a:rPr lang="en-US" dirty="0"/>
              <a:t>paper has </a:t>
            </a:r>
            <a:r>
              <a:rPr lang="en-US" dirty="0" smtClean="0"/>
              <a:t>an algorithm </a:t>
            </a:r>
            <a:r>
              <a:rPr lang="en-US" dirty="0"/>
              <a:t>try it on some examples</a:t>
            </a:r>
          </a:p>
          <a:p>
            <a:pPr eaLnBrk="1" hangingPunct="1"/>
            <a:r>
              <a:rPr lang="en-US" dirty="0"/>
              <a:t>If paper has an </a:t>
            </a:r>
            <a:r>
              <a:rPr lang="en-US" dirty="0" smtClean="0"/>
              <a:t>architecture diagram, try to trace </a:t>
            </a:r>
            <a:r>
              <a:rPr lang="en-US" dirty="0"/>
              <a:t>some execution paths</a:t>
            </a:r>
          </a:p>
          <a:p>
            <a:pPr eaLnBrk="1" hangingPunct="1"/>
            <a:r>
              <a:rPr lang="en-US" dirty="0"/>
              <a:t>Mark up paper – annotations are useful for re-reading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/>
              <a:t>Evaluation</a:t>
            </a:r>
            <a:endParaRPr lang="en-US" dirty="0"/>
          </a:p>
        </p:txBody>
      </p:sp>
      <p:sp>
        <p:nvSpPr>
          <p:cNvPr id="91140" name="Rectangle 7"/>
          <p:cNvSpPr>
            <a:spLocks noGrp="1" noChangeArrowheads="1"/>
          </p:cNvSpPr>
          <p:nvPr>
            <p:ph sz="quarter" idx="4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If </a:t>
            </a:r>
            <a:r>
              <a:rPr lang="en-US" dirty="0"/>
              <a:t>paper presents a </a:t>
            </a:r>
            <a:r>
              <a:rPr lang="en-US" dirty="0" smtClean="0"/>
              <a:t>proof </a:t>
            </a:r>
            <a:r>
              <a:rPr lang="en-US" dirty="0"/>
              <a:t>step through it</a:t>
            </a:r>
          </a:p>
          <a:p>
            <a:pPr eaLnBrk="1" hangingPunct="1"/>
            <a:r>
              <a:rPr lang="en-US" dirty="0"/>
              <a:t>If paper presents empirical data and results, check to see these really make sense</a:t>
            </a:r>
          </a:p>
          <a:p>
            <a:pPr eaLnBrk="1" hangingPunct="1"/>
            <a:endParaRPr lang="en-US" sz="2400" dirty="0"/>
          </a:p>
        </p:txBody>
      </p:sp>
      <p:sp>
        <p:nvSpPr>
          <p:cNvPr id="91141" name="Rectangle 8"/>
          <p:cNvSpPr>
            <a:spLocks noChangeArrowheads="1"/>
          </p:cNvSpPr>
          <p:nvPr/>
        </p:nvSpPr>
        <p:spPr bwMode="auto">
          <a:xfrm>
            <a:off x="854075" y="5943600"/>
            <a:ext cx="7435850" cy="51911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Tahoma" charset="0"/>
              </a:rPr>
              <a:t>Focus on understanding solution or evaluation</a:t>
            </a:r>
          </a:p>
        </p:txBody>
      </p:sp>
    </p:spTree>
    <p:extLst>
      <p:ext uri="{BB962C8B-B14F-4D97-AF65-F5344CB8AC3E}">
        <p14:creationId xmlns:p14="http://schemas.microsoft.com/office/powerpoint/2010/main" val="216374472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ＭＳ ゴシック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ヒラギノ明朝 Pro W3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Equity.thmx</Template>
  <TotalTime>4427</TotalTime>
  <Words>497</Words>
  <Application>Microsoft Macintosh PowerPoint</Application>
  <PresentationFormat>On-screen Show (4:3)</PresentationFormat>
  <Paragraphs>95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Equity</vt:lpstr>
      <vt:lpstr>Introduction to Big Data</vt:lpstr>
      <vt:lpstr>Reading Papers</vt:lpstr>
      <vt:lpstr>Research Papers</vt:lpstr>
      <vt:lpstr>Research Paper Types (1)</vt:lpstr>
      <vt:lpstr>Research Paper Types (2)</vt:lpstr>
      <vt:lpstr>Research Paper Types (3)</vt:lpstr>
      <vt:lpstr>Industry Papers</vt:lpstr>
      <vt:lpstr>Questions To Ask While Reading</vt:lpstr>
      <vt:lpstr>Multiple Readings: Initial Pass</vt:lpstr>
      <vt:lpstr>Subsequent Passes (Note the Plural!)</vt:lpstr>
    </vt:vector>
  </TitlesOfParts>
  <Company>RIT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shuangming yu</dc:creator>
  <cp:lastModifiedBy>Xumin Liu</cp:lastModifiedBy>
  <cp:revision>204</cp:revision>
  <cp:lastPrinted>2011-03-07T21:49:49Z</cp:lastPrinted>
  <dcterms:created xsi:type="dcterms:W3CDTF">2011-03-07T21:35:45Z</dcterms:created>
  <dcterms:modified xsi:type="dcterms:W3CDTF">2013-08-25T15:01:33Z</dcterms:modified>
</cp:coreProperties>
</file>